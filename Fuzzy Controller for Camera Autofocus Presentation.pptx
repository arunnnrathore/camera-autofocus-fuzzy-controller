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 Sharpness</c:v>
                </c:pt>
              </c:strCache>
            </c:strRef>
          </c:tx>
          <c:spPr>
            <a:ln w="31750" cap="flat">
              <a:solidFill>
                <a:srgbClr val="17C3D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7C3D6"/>
              </a:solidFill>
              <a:ln w="9525" cap="flat">
                <a:solidFill>
                  <a:srgbClr val="17C3D6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-10</c:v>
                </c:pt>
                <c:pt idx="1">
                  <c:v>-9</c:v>
                </c:pt>
                <c:pt idx="2">
                  <c:v>-8</c:v>
                </c:pt>
                <c:pt idx="3">
                  <c:v>-7</c:v>
                </c:pt>
                <c:pt idx="4">
                  <c:v>-6</c:v>
                </c:pt>
                <c:pt idx="5">
                  <c:v>-5</c:v>
                </c:pt>
                <c:pt idx="6">
                  <c:v>-4</c:v>
                </c:pt>
                <c:pt idx="7">
                  <c:v>-3</c:v>
                </c:pt>
                <c:pt idx="8">
                  <c:v>-2</c:v>
                </c:pt>
                <c:pt idx="9">
                  <c:v>-1</c:v>
                </c:pt>
                <c:pt idx="10">
                  <c:v>0</c:v>
                </c:pt>
                <c:pt idx="11">
                  <c:v>1</c:v>
                </c:pt>
                <c:pt idx="12">
                  <c:v>2</c:v>
                </c:pt>
                <c:pt idx="13">
                  <c:v>3</c:v>
                </c:pt>
                <c:pt idx="14">
                  <c:v>4</c:v>
                </c:pt>
                <c:pt idx="15">
                  <c:v>5</c:v>
                </c:pt>
                <c:pt idx="16">
                  <c:v>6</c:v>
                </c:pt>
                <c:pt idx="17">
                  <c:v>7</c:v>
                </c:pt>
                <c:pt idx="18">
                  <c:v>8</c:v>
                </c:pt>
                <c:pt idx="19">
                  <c:v>9</c:v>
                </c:pt>
                <c:pt idx="20">
                  <c:v>10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10</c:v>
                </c:pt>
                <c:pt idx="1">
                  <c:v>27.100000000000009</c:v>
                </c:pt>
                <c:pt idx="2">
                  <c:v>42.4</c:v>
                </c:pt>
                <c:pt idx="3">
                  <c:v>55.9</c:v>
                </c:pt>
                <c:pt idx="4">
                  <c:v>67.599999999999994</c:v>
                </c:pt>
                <c:pt idx="5">
                  <c:v>77.5</c:v>
                </c:pt>
                <c:pt idx="6">
                  <c:v>85.6</c:v>
                </c:pt>
                <c:pt idx="7">
                  <c:v>91.9</c:v>
                </c:pt>
                <c:pt idx="8">
                  <c:v>96.4</c:v>
                </c:pt>
                <c:pt idx="9">
                  <c:v>99.1</c:v>
                </c:pt>
                <c:pt idx="10">
                  <c:v>100</c:v>
                </c:pt>
                <c:pt idx="11">
                  <c:v>99.1</c:v>
                </c:pt>
                <c:pt idx="12">
                  <c:v>96.4</c:v>
                </c:pt>
                <c:pt idx="13">
                  <c:v>91.9</c:v>
                </c:pt>
                <c:pt idx="14">
                  <c:v>85.6</c:v>
                </c:pt>
                <c:pt idx="15">
                  <c:v>77.5</c:v>
                </c:pt>
                <c:pt idx="16">
                  <c:v>67.599999999999994</c:v>
                </c:pt>
                <c:pt idx="17">
                  <c:v>55.9</c:v>
                </c:pt>
                <c:pt idx="18">
                  <c:v>42.4</c:v>
                </c:pt>
                <c:pt idx="19">
                  <c:v>27.100000000000009</c:v>
                </c:pt>
                <c:pt idx="20">
                  <c:v>10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C5D-4341-AFD9-5B66A09A76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r>
                  <a:rPr lang="en-IN" sz="900" b="0" i="0" u="none" strike="noStrike">
                    <a:solidFill>
                      <a:srgbClr val="1E2761"/>
                    </a:solidFill>
                    <a:latin typeface="Arial"/>
                  </a:rPr>
                  <a:t>Lens Position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E276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r>
                  <a:rPr lang="en-IN" sz="900" b="0" i="0" u="none" strike="noStrike">
                    <a:solidFill>
                      <a:srgbClr val="1E2761"/>
                    </a:solidFill>
                    <a:latin typeface="Arial"/>
                  </a:rPr>
                  <a:t>Sharpness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E276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+mj-lt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+mj-lt"/>
              </a:rPr>
              <a:t>Crisp Lens Motor Step O* across 14 Test Cases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Crisp Output O*</c:v>
                </c:pt>
              </c:strCache>
            </c:strRef>
          </c:tx>
          <c:spPr>
            <a:solidFill>
              <a:srgbClr val="17C3D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7C3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F33-4322-BF8B-E4C8C65A0CA8}"/>
              </c:ext>
            </c:extLst>
          </c:dPt>
          <c:dPt>
            <c:idx val="1"/>
            <c:invertIfNegative val="0"/>
            <c:bubble3D val="0"/>
            <c:spPr>
              <a:solidFill>
                <a:srgbClr val="17C3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F33-4322-BF8B-E4C8C65A0CA8}"/>
              </c:ext>
            </c:extLst>
          </c:dPt>
          <c:dPt>
            <c:idx val="2"/>
            <c:invertIfNegative val="0"/>
            <c:bubble3D val="0"/>
            <c:spPr>
              <a:solidFill>
                <a:srgbClr val="F29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F33-4322-BF8B-E4C8C65A0CA8}"/>
              </c:ext>
            </c:extLst>
          </c:dPt>
          <c:dPt>
            <c:idx val="3"/>
            <c:invertIfNegative val="0"/>
            <c:bubble3D val="0"/>
            <c:spPr>
              <a:solidFill>
                <a:srgbClr val="17C3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F33-4322-BF8B-E4C8C65A0CA8}"/>
              </c:ext>
            </c:extLst>
          </c:dPt>
          <c:dPt>
            <c:idx val="4"/>
            <c:invertIfNegative val="0"/>
            <c:bubble3D val="0"/>
            <c:spPr>
              <a:solidFill>
                <a:srgbClr val="17C3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F33-4322-BF8B-E4C8C65A0CA8}"/>
              </c:ext>
            </c:extLst>
          </c:dPt>
          <c:dPt>
            <c:idx val="5"/>
            <c:invertIfNegative val="0"/>
            <c:bubble3D val="0"/>
            <c:spPr>
              <a:solidFill>
                <a:srgbClr val="17C3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F33-4322-BF8B-E4C8C65A0CA8}"/>
              </c:ext>
            </c:extLst>
          </c:dPt>
          <c:dPt>
            <c:idx val="6"/>
            <c:invertIfNegative val="0"/>
            <c:bubble3D val="0"/>
            <c:spPr>
              <a:solidFill>
                <a:srgbClr val="17C3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F33-4322-BF8B-E4C8C65A0CA8}"/>
              </c:ext>
            </c:extLst>
          </c:dPt>
          <c:dPt>
            <c:idx val="7"/>
            <c:invertIfNegative val="0"/>
            <c:bubble3D val="0"/>
            <c:spPr>
              <a:solidFill>
                <a:srgbClr val="17C3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F33-4322-BF8B-E4C8C65A0CA8}"/>
              </c:ext>
            </c:extLst>
          </c:dPt>
          <c:dPt>
            <c:idx val="8"/>
            <c:invertIfNegative val="0"/>
            <c:bubble3D val="0"/>
            <c:spPr>
              <a:solidFill>
                <a:srgbClr val="17C3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3F33-4322-BF8B-E4C8C65A0CA8}"/>
              </c:ext>
            </c:extLst>
          </c:dPt>
          <c:dPt>
            <c:idx val="9"/>
            <c:invertIfNegative val="0"/>
            <c:bubble3D val="0"/>
            <c:spPr>
              <a:solidFill>
                <a:srgbClr val="17C3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3F33-4322-BF8B-E4C8C65A0CA8}"/>
              </c:ext>
            </c:extLst>
          </c:dPt>
          <c:dPt>
            <c:idx val="10"/>
            <c:invertIfNegative val="0"/>
            <c:bubble3D val="0"/>
            <c:spPr>
              <a:solidFill>
                <a:srgbClr val="17C3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3F33-4322-BF8B-E4C8C65A0CA8}"/>
              </c:ext>
            </c:extLst>
          </c:dPt>
          <c:dPt>
            <c:idx val="11"/>
            <c:invertIfNegative val="0"/>
            <c:bubble3D val="0"/>
            <c:spPr>
              <a:solidFill>
                <a:srgbClr val="F29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3F33-4322-BF8B-E4C8C65A0CA8}"/>
              </c:ext>
            </c:extLst>
          </c:dPt>
          <c:dPt>
            <c:idx val="12"/>
            <c:invertIfNegative val="0"/>
            <c:bubble3D val="0"/>
            <c:spPr>
              <a:solidFill>
                <a:srgbClr val="F29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3F33-4322-BF8B-E4C8C65A0CA8}"/>
              </c:ext>
            </c:extLst>
          </c:dPt>
          <c:dPt>
            <c:idx val="13"/>
            <c:invertIfNegative val="0"/>
            <c:bubble3D val="0"/>
            <c:spPr>
              <a:solidFill>
                <a:srgbClr val="F29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3F33-4322-BF8B-E4C8C65A0CA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  <c:pt idx="9">
                  <c:v>T10</c:v>
                </c:pt>
                <c:pt idx="10">
                  <c:v>T11</c:v>
                </c:pt>
                <c:pt idx="11">
                  <c:v>T12</c:v>
                </c:pt>
                <c:pt idx="12">
                  <c:v>T13</c:v>
                </c:pt>
                <c:pt idx="13">
                  <c:v>T14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36.67</c:v>
                </c:pt>
                <c:pt idx="1">
                  <c:v>-20</c:v>
                </c:pt>
                <c:pt idx="2">
                  <c:v>0</c:v>
                </c:pt>
                <c:pt idx="3">
                  <c:v>45</c:v>
                </c:pt>
                <c:pt idx="4">
                  <c:v>-45</c:v>
                </c:pt>
                <c:pt idx="5">
                  <c:v>45</c:v>
                </c:pt>
                <c:pt idx="6">
                  <c:v>-45</c:v>
                </c:pt>
                <c:pt idx="7">
                  <c:v>15</c:v>
                </c:pt>
                <c:pt idx="8">
                  <c:v>-11.43</c:v>
                </c:pt>
                <c:pt idx="9">
                  <c:v>20</c:v>
                </c:pt>
                <c:pt idx="10">
                  <c:v>-32.5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C-3F33-4322-BF8B-E4C8C65A0C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76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  <c:min val="-55"/>
        </c:scaling>
        <c:delete val="0"/>
        <c:axPos val="l"/>
        <c:majorGridlines>
          <c:spPr>
            <a:ln w="9525" cap="flat">
              <a:solidFill>
                <a:srgbClr val="E3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r>
                  <a:rPr lang="en-IN" sz="900" b="0" i="0" u="none" strike="noStrike">
                    <a:solidFill>
                      <a:srgbClr val="1E2761"/>
                    </a:solidFill>
                    <a:latin typeface="Arial"/>
                  </a:rPr>
                  <a:t>Motor Steps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76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3038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1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L.D. COLLEGE OF ENGINEERING  •  FUZZY LOGIC PBL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>
                    <a:alpha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L.D. COLLEGE OF ENGINEERING  •  FUZZY LOGIC PBL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12964" y="2647841"/>
            <a:ext cx="4754880" cy="4754880"/>
          </a:xfrm>
          <a:prstGeom prst="ellipse">
            <a:avLst/>
          </a:prstGeom>
          <a:ln w="13970">
            <a:solidFill>
              <a:srgbClr val="17C3D6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41270" y="3207211"/>
            <a:ext cx="3749040" cy="3749040"/>
          </a:xfrm>
          <a:prstGeom prst="ellipse">
            <a:avLst/>
          </a:prstGeom>
          <a:ln w="13970">
            <a:solidFill>
              <a:srgbClr val="17C3D6">
                <a:alpha val="3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18804" y="3759397"/>
            <a:ext cx="2743200" cy="2743200"/>
          </a:xfrm>
          <a:prstGeom prst="ellipse">
            <a:avLst/>
          </a:prstGeom>
          <a:ln w="13970">
            <a:solidFill>
              <a:srgbClr val="17C3D6">
                <a:alpha val="2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21724" y="4293388"/>
            <a:ext cx="1737360" cy="1737360"/>
          </a:xfrm>
          <a:prstGeom prst="ellipse">
            <a:avLst/>
          </a:prstGeom>
          <a:ln w="13970">
            <a:solidFill>
              <a:srgbClr val="17C3D6">
                <a:alpha val="21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BASED LEARNING  •  SEMESTER 5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6002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Fuzzy Controller for Camera Autofocus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8558" y="2318004"/>
            <a:ext cx="457200" cy="457200"/>
          </a:xfrm>
          <a:prstGeom prst="ellipse">
            <a:avLst/>
          </a:prstGeom>
          <a:solidFill>
            <a:srgbClr val="17C3D6"/>
          </a:solidFill>
          <a:ln/>
        </p:spPr>
      </p:sp>
      <p:pic>
        <p:nvPicPr>
          <p:cNvPr id="9" name="Image 0" descr="/home/claude/fuzzy_pptx/assets/icon_camera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2400953"/>
            <a:ext cx="246888" cy="24688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8990" y="231800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Fuzzy Logic and Genetic Algorithms  |  Branch: Electronics &amp; Communication Engineering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928116" y="2940449"/>
            <a:ext cx="5852160" cy="1417320"/>
          </a:xfrm>
          <a:prstGeom prst="roundRect">
            <a:avLst>
              <a:gd name="adj" fmla="val 6452"/>
            </a:avLst>
          </a:prstGeom>
          <a:solidFill>
            <a:srgbClr val="16204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56716" y="3031889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156716" y="3306209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Tharakan Rahil Ramchandran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Shivam Nandi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 Rathore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4219956" y="3306209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240280111146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240280111139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240280111157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60167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L.D. College of Engineering, Ahmedabad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6309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2026–27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7C3D6"/>
          </a:solidFill>
          <a:ln/>
          <a:effectLst>
            <a:outerShdw blurRad="76200" dist="254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3" name="Image 0" descr="/home/claude/fuzzy_pptx/assets/icon_camer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89788"/>
            <a:ext cx="301752" cy="301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61872" y="420624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5943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08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b="1" dirty="0">
                <a:solidFill>
                  <a:srgbClr val="1E2761"/>
                </a:solidFill>
                <a:ea typeface="Calibri" pitchFamily="34" charset="-122"/>
                <a:cs typeface="Calibri" pitchFamily="34" charset="-120"/>
              </a:rPr>
              <a:t>Autofocus (AF) </a:t>
            </a:r>
            <a:r>
              <a:rPr lang="en-US" sz="1500" dirty="0">
                <a:solidFill>
                  <a:srgbClr val="1E2761"/>
                </a:solidFill>
                <a:ea typeface="Calibri" pitchFamily="34" charset="-122"/>
                <a:cs typeface="Calibri" pitchFamily="34" charset="-120"/>
              </a:rPr>
              <a:t>automatically brings the subject into sharp focus by moving the lens - no manual adjustment needed.</a:t>
            </a:r>
            <a:endParaRPr lang="en-US" sz="150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1E2761"/>
                </a:solidFill>
                <a:ea typeface="Calibri" pitchFamily="34" charset="-122"/>
                <a:cs typeface="Calibri" pitchFamily="34" charset="-120"/>
              </a:rPr>
              <a:t>Classical AF uses contrast / sharpness “hill-climbing”: on-sensor sharpness peaks exactly at correct focus. </a:t>
            </a:r>
            <a:r>
              <a:rPr lang="en-IN" sz="1500" dirty="0"/>
              <a:t>Conventional autofocus controllers rely on precise mathematical models relating lens position to image sharpness.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1E2761"/>
                </a:solidFill>
                <a:ea typeface="Calibri" pitchFamily="34" charset="-122"/>
                <a:cs typeface="Calibri" pitchFamily="34" charset="-120"/>
              </a:rPr>
              <a:t>The sharpness – lens-position relationship is non-linear, noisy, and hard to model exactly with conventional threshold-based control. </a:t>
            </a:r>
            <a:r>
              <a:rPr lang="en-IN" sz="1500" dirty="0">
                <a:solidFill>
                  <a:srgbClr val="1E2761"/>
                </a:solidFill>
                <a:ea typeface="Calibri" pitchFamily="34" charset="-122"/>
                <a:cs typeface="Calibri" pitchFamily="34" charset="-120"/>
              </a:rPr>
              <a:t>H</a:t>
            </a:r>
            <a:r>
              <a:rPr lang="en-IN" sz="1500" dirty="0"/>
              <a:t>owever, the relationship between focus error, scene contrast, and lens movement is inherently non-linear, noisy and difficult to model exactly.</a:t>
            </a:r>
            <a:endParaRPr lang="en-US" sz="150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500" b="1" dirty="0">
                <a:solidFill>
                  <a:srgbClr val="1E2761"/>
                </a:solidFill>
                <a:ea typeface="Calibri" pitchFamily="34" charset="-122"/>
                <a:cs typeface="Calibri" pitchFamily="34" charset="-120"/>
              </a:rPr>
              <a:t>Fuzzy Logic Control (FLC) </a:t>
            </a:r>
            <a:r>
              <a:rPr lang="en-US" sz="1500" dirty="0">
                <a:solidFill>
                  <a:srgbClr val="1E2761"/>
                </a:solidFill>
                <a:ea typeface="Calibri" pitchFamily="34" charset="-122"/>
                <a:cs typeface="Calibri" pitchFamily="34" charset="-120"/>
              </a:rPr>
              <a:t>applies human-like linguistic IF–THEN rules, giving smooth, robust lens-motor commands </a:t>
            </a:r>
            <a:r>
              <a:rPr lang="en-IN" sz="1600" dirty="0">
                <a:solidFill>
                  <a:srgbClr val="1E2761"/>
                </a:solidFill>
                <a:ea typeface="Calibri" pitchFamily="34" charset="-122"/>
                <a:cs typeface="Calibri" pitchFamily="34" charset="-120"/>
              </a:rPr>
              <a:t>,</a:t>
            </a:r>
            <a:r>
              <a:rPr lang="en-IN" sz="1600" dirty="0"/>
              <a:t> </a:t>
            </a:r>
            <a:r>
              <a:rPr lang="en-IN" sz="1500" dirty="0"/>
              <a:t>even in the presence of uncertainty and imprecise sensor data.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720840" y="1508760"/>
            <a:ext cx="4892040" cy="4480560"/>
          </a:xfrm>
          <a:prstGeom prst="roundRect">
            <a:avLst>
              <a:gd name="adj" fmla="val 2041"/>
            </a:avLst>
          </a:prstGeom>
          <a:solidFill>
            <a:srgbClr val="EAF6F8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949440" y="16916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Contrast Hill-Climb</a:t>
            </a:r>
            <a:endParaRPr lang="en-US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903720" y="2103120"/>
          <a:ext cx="448056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1"/>
          <p:cNvSpPr>
            <a:spLocks noGrp="1"/>
          </p:cNvSpPr>
          <p:nvPr>
            <p:ph type="body" idx="101" hasCustomPrompt="1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7C3D6"/>
          </a:solidFill>
          <a:ln/>
          <a:effectLst>
            <a:outerShdw blurRad="76200" dist="254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3" name="Image 0" descr="/home/claude/fuzzy_pptx/assets/icon_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89788"/>
            <a:ext cx="301752" cy="301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61872" y="420624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5303520" cy="4480560"/>
          </a:xfrm>
          <a:prstGeom prst="roundRect">
            <a:avLst>
              <a:gd name="adj" fmla="val 2041"/>
            </a:avLst>
          </a:prstGeom>
          <a:solidFill>
            <a:srgbClr val="0F164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737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05740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autofocus controllers rely on precise, threshold-based mathematical models linking lens position to sharpness. Under noisy, imprecise sensor data this produces abrupt, non-adaptive lens adjustments — motivating a fuzzy, heuristic approach.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343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6634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two-input, single-output Mamdani FLC that commands smooth, accurate lens-motor steps for intelligent, adaptive autofocus.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172200" y="1508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6172200" y="1965960"/>
            <a:ext cx="384048" cy="384048"/>
          </a:xfrm>
          <a:prstGeom prst="ellipse">
            <a:avLst/>
          </a:prstGeom>
          <a:solidFill>
            <a:srgbClr val="EAF6F8"/>
          </a:solidFill>
          <a:ln w="15875">
            <a:solidFill>
              <a:srgbClr val="17C3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7220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720840" y="1920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input / output variables of the AF controller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172200" y="2734056"/>
            <a:ext cx="384048" cy="384048"/>
          </a:xfrm>
          <a:prstGeom prst="ellipse">
            <a:avLst/>
          </a:prstGeom>
          <a:solidFill>
            <a:srgbClr val="EAF6F8"/>
          </a:solidFill>
          <a:ln w="15875">
            <a:solidFill>
              <a:srgbClr val="17C3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7220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720840" y="268833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universe of discourse &amp; linguistic variables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172200" y="3502152"/>
            <a:ext cx="384048" cy="384048"/>
          </a:xfrm>
          <a:prstGeom prst="ellipse">
            <a:avLst/>
          </a:prstGeom>
          <a:solidFill>
            <a:srgbClr val="EAF6F8"/>
          </a:solidFill>
          <a:ln w="15875">
            <a:solidFill>
              <a:srgbClr val="17C3D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722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720840" y="345643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triangular / trapezoidal membership functions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172200" y="4270248"/>
            <a:ext cx="384048" cy="384048"/>
          </a:xfrm>
          <a:prstGeom prst="ellipse">
            <a:avLst/>
          </a:prstGeom>
          <a:solidFill>
            <a:srgbClr val="EAF6F8"/>
          </a:solidFill>
          <a:ln w="15875">
            <a:solidFill>
              <a:srgbClr val="17C3D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17220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720840" y="422452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an 8-rule fuzzy rule base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172200" y="5038344"/>
            <a:ext cx="384048" cy="384048"/>
          </a:xfrm>
          <a:prstGeom prst="ellipse">
            <a:avLst/>
          </a:prstGeom>
          <a:solidFill>
            <a:srgbClr val="EAF6F8"/>
          </a:solidFill>
          <a:ln w="15875">
            <a:solidFill>
              <a:srgbClr val="17C3D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172200" y="5038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720840" y="499262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Fuzzify a sample input, evaluate rules &amp; defuzzify (weighted average)</a:t>
            </a:r>
            <a:endParaRPr lang="en-US" sz="1500" dirty="0"/>
          </a:p>
        </p:txBody>
      </p:sp>
      <p:sp>
        <p:nvSpPr>
          <p:cNvPr id="26" name="Text 1"/>
          <p:cNvSpPr>
            <a:spLocks noGrp="1"/>
          </p:cNvSpPr>
          <p:nvPr>
            <p:ph type="body" idx="101" hasCustomPrompt="1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7C3D6"/>
          </a:solidFill>
          <a:ln/>
          <a:effectLst>
            <a:outerShdw blurRad="76200" dist="254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3" name="Image 0" descr="/home/claude/fuzzy_pptx/assets/icon_cpu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89788"/>
            <a:ext cx="301752" cy="301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61872" y="420624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Mamdani-type Fuzzy Inference System (FIS) — two inputs, one output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99395" y="2132045"/>
            <a:ext cx="3017520" cy="1234440"/>
          </a:xfrm>
          <a:prstGeom prst="roundRect">
            <a:avLst>
              <a:gd name="adj" fmla="val 7407"/>
            </a:avLst>
          </a:prstGeom>
          <a:solidFill>
            <a:srgbClr val="EAF6F8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382275" y="2269205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Sharpness Error (E)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382275" y="2753837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−10 to +10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sharpness − previous sharpness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48568" y="3715450"/>
            <a:ext cx="3017520" cy="1234440"/>
          </a:xfrm>
          <a:prstGeom prst="roundRect">
            <a:avLst>
              <a:gd name="adj" fmla="val 7407"/>
            </a:avLst>
          </a:prstGeom>
          <a:solidFill>
            <a:srgbClr val="EAF6F8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31448" y="385261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of Change (dE)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31448" y="433724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−5 to +5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/ speed of focus-quality change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39775" y="2786028"/>
            <a:ext cx="1371600" cy="0"/>
          </a:xfrm>
          <a:prstGeom prst="line">
            <a:avLst/>
          </a:prstGeom>
          <a:noFill/>
          <a:ln w="25400">
            <a:solidFill>
              <a:srgbClr val="0E8FA0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266088" y="4457700"/>
            <a:ext cx="1371600" cy="0"/>
          </a:xfrm>
          <a:prstGeom prst="line">
            <a:avLst/>
          </a:prstGeom>
          <a:noFill/>
          <a:ln w="25400">
            <a:solidFill>
              <a:srgbClr val="0E8FA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611375" y="2793493"/>
            <a:ext cx="502920" cy="1691640"/>
          </a:xfrm>
          <a:prstGeom prst="bentConnector3">
            <a:avLst/>
          </a:prstGeom>
          <a:noFill/>
          <a:ln w="25400">
            <a:solidFill>
              <a:srgbClr val="0E8FA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138928" y="2680125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0F1640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16" name="Image 1" descr="/home/claude/fuzzy_pptx/assets/icon_gear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816352"/>
            <a:ext cx="603504" cy="60350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486400" y="345643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FUZZY</a:t>
            </a:r>
            <a:endParaRPr lang="en-US" sz="17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8430768" y="3566160"/>
            <a:ext cx="1005840" cy="0"/>
          </a:xfrm>
          <a:prstGeom prst="line">
            <a:avLst/>
          </a:prstGeom>
          <a:noFill/>
          <a:ln w="31750">
            <a:solidFill>
              <a:srgbClr val="17C3D6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9436608" y="2989995"/>
            <a:ext cx="2633472" cy="1234440"/>
          </a:xfrm>
          <a:prstGeom prst="roundRect">
            <a:avLst>
              <a:gd name="adj" fmla="val 7407"/>
            </a:avLst>
          </a:prstGeom>
          <a:solidFill>
            <a:srgbClr val="EAF6F8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9619488" y="3127155"/>
            <a:ext cx="23142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Lens Motor Step (O)</a:t>
            </a:r>
            <a:endParaRPr lang="en-US" sz="1450" dirty="0"/>
          </a:p>
        </p:txBody>
      </p:sp>
      <p:sp>
        <p:nvSpPr>
          <p:cNvPr id="21" name="Text 17"/>
          <p:cNvSpPr txBox="1"/>
          <p:nvPr/>
        </p:nvSpPr>
        <p:spPr>
          <a:xfrm>
            <a:off x="9619488" y="3607215"/>
            <a:ext cx="23142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−50 to +50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 forward, − backward)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4450080" y="5166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Mamdani Fuzzy Inference System</a:t>
            </a:r>
            <a:endParaRPr lang="en-US" sz="1500" dirty="0"/>
          </a:p>
        </p:txBody>
      </p:sp>
      <p:sp>
        <p:nvSpPr>
          <p:cNvPr id="23" name="Text 1"/>
          <p:cNvSpPr>
            <a:spLocks noGrp="1"/>
          </p:cNvSpPr>
          <p:nvPr>
            <p:ph type="body" idx="101" hasCustomPrompt="1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7C3D6"/>
          </a:solidFill>
          <a:ln/>
          <a:effectLst>
            <a:outerShdw blurRad="76200" dist="254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3" name="Image 0" descr="/home/claude/fuzzy_pptx/assets/icon_lay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89788"/>
            <a:ext cx="301752" cy="301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61872" y="420624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&amp; Output Variables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87355"/>
              </p:ext>
            </p:extLst>
          </p:nvPr>
        </p:nvGraphicFramePr>
        <p:xfrm>
          <a:off x="548640" y="1691640"/>
          <a:ext cx="11064240" cy="21945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Range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Linguistic Values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</a:rPr>
                        <a:t>Sharpness Error (E)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</a:rPr>
                        <a:t>−10 to +10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</a:rPr>
                        <a:t>Normalized contrast units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</a:rPr>
                        <a:t>NL, NS, Z, PS, PL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</a:rPr>
                        <a:t>Rate of Change of Error (dE)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</a:rPr>
                        <a:t>−5 to +5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</a:rPr>
                        <a:t>Contrast units / sample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</a:rPr>
                        <a:t>N, Z, P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</a:rPr>
                        <a:t>Lens Motor Step (O)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</a:rPr>
                        <a:t>−50 to +50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</a:rPr>
                        <a:t>Motor steps (+ fwd / − bwd)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761"/>
                          </a:solidFill>
                        </a:rPr>
                        <a:t>NL, NS, Z, PS, PL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34340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EAF6F8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82296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value legend</a:t>
            </a:r>
            <a:endParaRPr lang="en-US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4892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= Negative Large     NS = Negative Small     Z = Zero     PS = Positive Small     PL = Positive Large     N = Negative     Z = Zero     P = Positive</a:t>
            </a:r>
            <a:endParaRPr lang="en-US" sz="1500" dirty="0"/>
          </a:p>
        </p:txBody>
      </p:sp>
      <p:sp>
        <p:nvSpPr>
          <p:cNvPr id="9" name="Text 1"/>
          <p:cNvSpPr>
            <a:spLocks noGrp="1"/>
          </p:cNvSpPr>
          <p:nvPr>
            <p:ph type="body" idx="101" hasCustomPrompt="1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7C3D6"/>
          </a:solidFill>
          <a:ln/>
          <a:effectLst>
            <a:outerShdw blurRad="76200" dist="254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3" name="Image 0" descr="/home/claude/fuzzy_pptx/assets/icon_shape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89788"/>
            <a:ext cx="301752" cy="301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61872" y="420624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Membership Functions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Triangular &amp; trapezoidal shapes — computationally light, ideal for a real-time embedded camera processor.</a:t>
            </a:r>
            <a:endParaRPr lang="en-US" sz="1400" dirty="0"/>
          </a:p>
          <a:p>
            <a:pPr marL="228600" indent="-228600" algn="l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Trapezoidal sets (NL, PL) model saturation at the extremes of each universe of discourse.</a:t>
            </a:r>
            <a:endParaRPr lang="en-US" sz="1400" dirty="0"/>
          </a:p>
          <a:p>
            <a:pPr marL="228600" indent="-228600" algn="l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Triangular sets model the intermediate, gradually-transitioning values.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88036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EAF6F8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7" name="Image 1" descr="/home/claude/fuzzy_pptx/assets/mf_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971800"/>
            <a:ext cx="3300984" cy="17830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48006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— Sharpness Error (E)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343400" y="288036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EAF6F8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10" name="Image 2" descr="/home/claude/fuzzy_pptx/assets/mf_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8" y="2971800"/>
            <a:ext cx="3300984" cy="17830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343400" y="48006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— Rate of Change (dE)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8138160" y="288036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EAF6F8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13" name="Image 3" descr="/home/claude/fuzzy_pptx/assets/mf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888" y="2971800"/>
            <a:ext cx="3300984" cy="17830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138160" y="48006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 — Lens Motor Step (O)</a:t>
            </a:r>
            <a:endParaRPr lang="en-US" sz="1150" dirty="0"/>
          </a:p>
        </p:txBody>
      </p:sp>
      <p:sp>
        <p:nvSpPr>
          <p:cNvPr id="15" name="Text 1"/>
          <p:cNvSpPr>
            <a:spLocks noGrp="1"/>
          </p:cNvSpPr>
          <p:nvPr>
            <p:ph type="body" idx="101" hasCustomPrompt="1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7C3D6"/>
          </a:solidFill>
          <a:ln/>
          <a:effectLst>
            <a:outerShdw blurRad="76200" dist="254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3" name="Image 0" descr="/home/claude/fuzzy_pptx/assets/icon_rule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89788"/>
            <a:ext cx="301752" cy="301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61872" y="420624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Fuzzy Rule Base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1463040"/>
          <a:ext cx="5852160" cy="45262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Rule</a:t>
                      </a:r>
                      <a:endParaRPr lang="en-US" sz="135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IF E is</a:t>
                      </a:r>
                      <a:endParaRPr lang="en-US" sz="135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AND dE is</a:t>
                      </a:r>
                      <a:endParaRPr lang="en-US" sz="135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THEN O is</a:t>
                      </a:r>
                      <a:endParaRPr lang="en-US" sz="135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E8FA0"/>
                          </a:solidFill>
                        </a:rPr>
                        <a:t>R1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NL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NL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E8FA0"/>
                          </a:solidFill>
                        </a:rPr>
                        <a:t>R2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NL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Z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NL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E8FA0"/>
                          </a:solidFill>
                        </a:rPr>
                        <a:t>R3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NS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NS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E8FA0"/>
                          </a:solidFill>
                        </a:rPr>
                        <a:t>R4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NS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Z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NS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E8FA0"/>
                          </a:solidFill>
                        </a:rPr>
                        <a:t>R5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Z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Z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Z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E8FA0"/>
                          </a:solidFill>
                        </a:rPr>
                        <a:t>R6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PS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Z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PS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E8FA0"/>
                          </a:solidFill>
                        </a:rPr>
                        <a:t>R7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PS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P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PL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E8FA0"/>
                          </a:solidFill>
                        </a:rPr>
                        <a:t>R8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PL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P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PL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635240" y="1463040"/>
            <a:ext cx="4023360" cy="4526280"/>
          </a:xfrm>
          <a:prstGeom prst="roundRect">
            <a:avLst>
              <a:gd name="adj" fmla="val 2273"/>
            </a:avLst>
          </a:prstGeom>
          <a:solidFill>
            <a:srgbClr val="0F1640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790956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RULE</a:t>
            </a:r>
            <a:endParaRPr lang="en-US" sz="1150" dirty="0"/>
          </a:p>
        </p:txBody>
      </p:sp>
      <p:sp>
        <p:nvSpPr>
          <p:cNvPr id="5" name="Text 4"/>
          <p:cNvSpPr txBox="1"/>
          <p:nvPr/>
        </p:nvSpPr>
        <p:spPr>
          <a:xfrm>
            <a:off x="7909560" y="2057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R7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7909560" y="25146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Sharpness Error is Positive Small AND Rate of Change is Positive, THEN Lens Motor Step is Positive Large.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7909560" y="37947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is degrading further away and worsening quickly — a large corrective step is issued in time to prevent focus hunting.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7909560" y="52120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1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(AND) used for rule conjunction: w = min(μE, μdE)</a:t>
            </a:r>
            <a:endParaRPr lang="en-US" sz="1150" dirty="0"/>
          </a:p>
        </p:txBody>
      </p:sp>
      <p:sp>
        <p:nvSpPr>
          <p:cNvPr id="12" name="Text 1"/>
          <p:cNvSpPr>
            <a:spLocks noGrp="1"/>
          </p:cNvSpPr>
          <p:nvPr>
            <p:ph type="body" idx="101" hasCustomPrompt="1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7C3D6"/>
          </a:solidFill>
          <a:ln/>
          <a:effectLst>
            <a:outerShdw blurRad="76200" dist="254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3" name="Image 0" descr="/home/claude/fuzzy_pptx/assets/icon_pyth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89788"/>
            <a:ext cx="301752" cy="301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61872" y="420624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Implementation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EAF6F8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17C3D6"/>
          </a:solidFill>
          <a:ln/>
        </p:spPr>
      </p:sp>
      <p:pic>
        <p:nvPicPr>
          <p:cNvPr id="7" name="Image 1" descr="/home/claude/fuzzy_pptx/assets/icon_cpu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1842516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1691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423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discretized universes of discourse for E, dE and O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343400" y="150876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EAF6F8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72000" y="1737360"/>
            <a:ext cx="502920" cy="502920"/>
          </a:xfrm>
          <a:prstGeom prst="ellipse">
            <a:avLst/>
          </a:prstGeom>
          <a:solidFill>
            <a:srgbClr val="17C3D6"/>
          </a:solidFill>
          <a:ln/>
        </p:spPr>
      </p:sp>
      <p:pic>
        <p:nvPicPr>
          <p:cNvPr id="12" name="Image 2" descr="/home/claude/fuzzy_pptx/assets/icon_chart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184251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12080" y="1691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572000" y="2423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membership functions and the fuzzification / result figures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138160" y="150876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EAF6F8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366760" y="1737360"/>
            <a:ext cx="502920" cy="502920"/>
          </a:xfrm>
          <a:prstGeom prst="ellipse">
            <a:avLst/>
          </a:prstGeom>
          <a:solidFill>
            <a:srgbClr val="17C3D6"/>
          </a:solidFill>
          <a:ln/>
        </p:spPr>
      </p:sp>
      <p:pic>
        <p:nvPicPr>
          <p:cNvPr id="17" name="Image 3" descr="/home/claude/fuzzy_pptx/assets/icon_cod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1916" y="1842516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06840" y="1691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scikit-fuzzy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366760" y="2423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 / Consequent objects, Mamdani rule evaluation engine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3520440"/>
            <a:ext cx="5486400" cy="2514600"/>
          </a:xfrm>
          <a:prstGeom prst="roundRect">
            <a:avLst>
              <a:gd name="adj" fmla="val 3636"/>
            </a:avLst>
          </a:prstGeom>
          <a:solidFill>
            <a:srgbClr val="0F1640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Text 15"/>
          <p:cNvSpPr txBox="1"/>
          <p:nvPr/>
        </p:nvSpPr>
        <p:spPr>
          <a:xfrm>
            <a:off x="822960" y="3657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INFERENCE (EXCERPT)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397764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E['PS'] = fuzz.trimf(E.universe, [0, 4, 8])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dE['P'] = fuzz.trapmf(dE.universe,[0,3,5,5])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rule7 = ctrl.Rule(E['PS'] &amp; dE['P'], O['PL'])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= ctrl.ControlSystem(rules)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 = ctrl.ControlSystemSimulation(system)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sim.input['E'], sim.input['dE'] = 4, 2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sim.compute()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309360" y="3520440"/>
            <a:ext cx="5349240" cy="2514600"/>
          </a:xfrm>
          <a:prstGeom prst="roundRect">
            <a:avLst>
              <a:gd name="adj" fmla="val 3636"/>
            </a:avLst>
          </a:prstGeom>
          <a:solidFill>
            <a:srgbClr val="EAF6F8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6583680" y="3657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PIPELINE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537960" y="4343400"/>
            <a:ext cx="566928" cy="566928"/>
          </a:xfrm>
          <a:prstGeom prst="ellipse">
            <a:avLst/>
          </a:prstGeom>
          <a:solidFill>
            <a:srgbClr val="17C3D6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653796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6217920" y="5001768"/>
            <a:ext cx="120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Fuzzification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7104888" y="4626864"/>
            <a:ext cx="658368" cy="0"/>
          </a:xfrm>
          <a:prstGeom prst="line">
            <a:avLst/>
          </a:prstGeom>
          <a:noFill/>
          <a:ln w="22225">
            <a:solidFill>
              <a:srgbClr val="0E8FA0"/>
            </a:solidFill>
            <a:prstDash val="solid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7763256" y="4343400"/>
            <a:ext cx="566928" cy="566928"/>
          </a:xfrm>
          <a:prstGeom prst="ellipse">
            <a:avLst/>
          </a:prstGeom>
          <a:solidFill>
            <a:srgbClr val="17C3D6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7763256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7443216" y="5001768"/>
            <a:ext cx="120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Evaluation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 / AND)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8330184" y="4626864"/>
            <a:ext cx="658368" cy="0"/>
          </a:xfrm>
          <a:prstGeom prst="line">
            <a:avLst/>
          </a:prstGeom>
          <a:noFill/>
          <a:ln w="22225">
            <a:solidFill>
              <a:srgbClr val="0E8FA0"/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8988552" y="4343400"/>
            <a:ext cx="566928" cy="566928"/>
          </a:xfrm>
          <a:prstGeom prst="ellipse">
            <a:avLst/>
          </a:prstGeom>
          <a:solidFill>
            <a:srgbClr val="17C3D6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8988552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35" name="Text 29"/>
          <p:cNvSpPr txBox="1"/>
          <p:nvPr/>
        </p:nvSpPr>
        <p:spPr>
          <a:xfrm>
            <a:off x="8668512" y="5001768"/>
            <a:ext cx="120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9555480" y="4626864"/>
            <a:ext cx="658368" cy="0"/>
          </a:xfrm>
          <a:prstGeom prst="line">
            <a:avLst/>
          </a:prstGeom>
          <a:noFill/>
          <a:ln w="22225">
            <a:solidFill>
              <a:srgbClr val="0E8FA0"/>
            </a:solidFill>
            <a:prstDash val="solid"/>
            <a:tailEnd type="triangle"/>
          </a:ln>
        </p:spPr>
      </p:sp>
      <p:sp>
        <p:nvSpPr>
          <p:cNvPr id="37" name="Shape 31"/>
          <p:cNvSpPr/>
          <p:nvPr/>
        </p:nvSpPr>
        <p:spPr>
          <a:xfrm>
            <a:off x="10213848" y="4343400"/>
            <a:ext cx="566928" cy="566928"/>
          </a:xfrm>
          <a:prstGeom prst="ellipse">
            <a:avLst/>
          </a:prstGeom>
          <a:solidFill>
            <a:srgbClr val="17C3D6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10213848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9" name="Text 33"/>
          <p:cNvSpPr txBox="1"/>
          <p:nvPr/>
        </p:nvSpPr>
        <p:spPr>
          <a:xfrm>
            <a:off x="9893808" y="5001768"/>
            <a:ext cx="120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Defuzzification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6537960" y="5440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 output → Lens Motor Step (O)</a:t>
            </a:r>
            <a:endParaRPr lang="en-US" sz="1200" dirty="0"/>
          </a:p>
        </p:txBody>
      </p:sp>
      <p:sp>
        <p:nvSpPr>
          <p:cNvPr id="41" name="Text 1"/>
          <p:cNvSpPr>
            <a:spLocks noGrp="1"/>
          </p:cNvSpPr>
          <p:nvPr>
            <p:ph type="body" idx="101" hasCustomPrompt="1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7C3D6"/>
          </a:solidFill>
          <a:ln/>
          <a:effectLst>
            <a:outerShdw blurRad="76200" dist="254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3" name="Image 0" descr="/home/claude/fuzzy_pptx/assets/icon_calc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89788"/>
            <a:ext cx="301752" cy="301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61872" y="420624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Fuzzy Inference — Worked Example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input:  E = 4   |   dE = 2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7040880" cy="115214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Rule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μE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μdE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Firing Strength w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Output Set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R6: PS, Z → PS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1.000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0.333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0.333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PS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R7: PS, P → PL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1.000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0.667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0.667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</a:rPr>
                        <a:t>PL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3246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z* = Σ(wᵢ × zᵢ) / Σ(wᵢ)  =  (0.333×20 + 0.667×45) / 1.000  =  36.675 ≈ 36.68 steps</a:t>
            </a:r>
            <a:endParaRPr lang="en-US" sz="14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703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peak values used: Z = 0, PS = 20, PL = 45 (plateau mid-point)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425196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EAF6F8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6"/>
          <p:cNvSpPr txBox="1"/>
          <p:nvPr/>
        </p:nvSpPr>
        <p:spPr>
          <a:xfrm>
            <a:off x="548640" y="438912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36.68</a:t>
            </a:r>
            <a:endParaRPr lang="en-US" sz="42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25780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 (this report’s method)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562356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0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only each set’s representative peak, weighted by firing strength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989320" y="425196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0F1640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989320" y="438912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7C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30.61</a:t>
            </a:r>
            <a:endParaRPr lang="en-US" sz="4200" dirty="0"/>
          </a:p>
        </p:txBody>
      </p:sp>
      <p:sp>
        <p:nvSpPr>
          <p:cNvPr id="15" name="Text 11"/>
          <p:cNvSpPr txBox="1"/>
          <p:nvPr/>
        </p:nvSpPr>
        <p:spPr>
          <a:xfrm>
            <a:off x="5989320" y="525780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— Standard Mamdani (scikit-fuzzy)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263640" y="562356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889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full shape of each aggregated output set</a:t>
            </a:r>
            <a:endParaRPr lang="en-US" sz="1050" dirty="0"/>
          </a:p>
        </p:txBody>
      </p:sp>
      <p:sp>
        <p:nvSpPr>
          <p:cNvPr id="17" name="Text 1"/>
          <p:cNvSpPr>
            <a:spLocks noGrp="1"/>
          </p:cNvSpPr>
          <p:nvPr>
            <p:ph type="body" idx="101" hasCustomPrompt="1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7C3D6"/>
          </a:solidFill>
          <a:ln/>
          <a:effectLst>
            <a:outerShdw blurRad="76200" dist="254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3" name="Image 0" descr="/home/claude/fuzzy_pptx/assets/icon_flas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89788"/>
            <a:ext cx="301752" cy="301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61872" y="420624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Results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4480560" cy="47320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O*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T1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2.0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36.67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T2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-20.00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T3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0.0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2994A"/>
                          </a:solidFill>
                        </a:rPr>
                        <a:t>0.00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T4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9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4.0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45.00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T5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-9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-4.0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-45.00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T6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8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4.0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45.00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T7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-8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-4.0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-45.00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T8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0.5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15.00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T9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-2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-0.5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-11.43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T10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20.00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T11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-6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2.0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-32.50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T12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4.0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2994A"/>
                          </a:solidFill>
                        </a:rPr>
                        <a:t>0.00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T13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-4.0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2994A"/>
                          </a:solidFill>
                        </a:rPr>
                        <a:t>0.00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T14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-5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</a:rPr>
                        <a:t>3.0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2994A"/>
                          </a:solidFill>
                        </a:rPr>
                        <a:t>0.00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5120640" y="1417320"/>
          <a:ext cx="65836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2"/>
          <p:cNvSpPr/>
          <p:nvPr/>
        </p:nvSpPr>
        <p:spPr>
          <a:xfrm>
            <a:off x="5120640" y="5669280"/>
            <a:ext cx="6583680" cy="685800"/>
          </a:xfrm>
          <a:prstGeom prst="roundRect">
            <a:avLst>
              <a:gd name="adj" fmla="val 13333"/>
            </a:avLst>
          </a:prstGeom>
          <a:solidFill>
            <a:srgbClr val="FDEEE1"/>
          </a:solidFill>
          <a:ln/>
        </p:spPr>
      </p:sp>
      <p:sp>
        <p:nvSpPr>
          <p:cNvPr id="8" name="Shape 3"/>
          <p:cNvSpPr/>
          <p:nvPr/>
        </p:nvSpPr>
        <p:spPr>
          <a:xfrm>
            <a:off x="5303520" y="5824728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5303520" y="5824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5806440" y="573328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14 cases (T12–T14, orange) fired no rule → O* = 0: a rule-base coverage gap found during testing.</a:t>
            </a:r>
            <a:endParaRPr lang="en-US" sz="1100" dirty="0"/>
          </a:p>
        </p:txBody>
      </p:sp>
      <p:sp>
        <p:nvSpPr>
          <p:cNvPr id="5" name="Text 1"/>
          <p:cNvSpPr>
            <a:spLocks noGrp="1"/>
          </p:cNvSpPr>
          <p:nvPr>
            <p:ph type="body" idx="101" hasCustomPrompt="1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7C3D6"/>
          </a:solidFill>
          <a:ln/>
          <a:effectLst>
            <a:outerShdw blurRad="76200" dist="254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3" name="Image 0" descr="/home/claude/fuzzy_pptx/assets/icon_bul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89788"/>
            <a:ext cx="301752" cy="301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61872" y="420624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Applications, Limitations &amp; Future Scope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3611880" cy="4526280"/>
          </a:xfrm>
          <a:prstGeom prst="roundRect">
            <a:avLst>
              <a:gd name="adj" fmla="val 2532"/>
            </a:avLst>
          </a:prstGeom>
          <a:solidFill>
            <a:srgbClr val="EAF6F8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17C3D6"/>
          </a:solidFill>
          <a:ln/>
        </p:spPr>
      </p:sp>
      <p:pic>
        <p:nvPicPr>
          <p:cNvPr id="7" name="Image 1" descr="/home/claude/fuzzy_pptx/assets/icon_camera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" y="1915668"/>
            <a:ext cx="301752" cy="30175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2514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01752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&amp; mirrorless/DSLR autofocus</a:t>
            </a:r>
            <a:endParaRPr lang="en-US" sz="1250" dirty="0"/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/ surveillance auto-tracking cameras</a:t>
            </a:r>
            <a:endParaRPr lang="en-US" sz="1250" dirty="0"/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&amp; IoT camera modules needing low-compute control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434840" y="1508760"/>
            <a:ext cx="3611880" cy="4526280"/>
          </a:xfrm>
          <a:prstGeom prst="roundRect">
            <a:avLst>
              <a:gd name="adj" fmla="val 2532"/>
            </a:avLst>
          </a:prstGeom>
          <a:solidFill>
            <a:srgbClr val="0F1640"/>
          </a:solidFill>
          <a:ln/>
        </p:spPr>
      </p:sp>
      <p:sp>
        <p:nvSpPr>
          <p:cNvPr id="11" name="Shape 7"/>
          <p:cNvSpPr/>
          <p:nvPr/>
        </p:nvSpPr>
        <p:spPr>
          <a:xfrm>
            <a:off x="4709160" y="1783080"/>
            <a:ext cx="548640" cy="548640"/>
          </a:xfrm>
          <a:prstGeom prst="ellipse">
            <a:avLst/>
          </a:prstGeom>
          <a:solidFill>
            <a:srgbClr val="17C3D6"/>
          </a:solidFill>
          <a:ln/>
        </p:spPr>
      </p:sp>
      <p:pic>
        <p:nvPicPr>
          <p:cNvPr id="12" name="Image 2" descr="/home/claude/fuzzy_pptx/assets/icon_flask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1748" y="1915668"/>
            <a:ext cx="301752" cy="30175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09160" y="2514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C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4709160" y="301752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Software-only simulation — no physical lens / motor tested</a:t>
            </a:r>
            <a:endParaRPr lang="en-US" sz="1250" dirty="0"/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8-rule base leaves some (E, dE) pairs uncovered (O*=0 seen in testing)</a:t>
            </a:r>
            <a:endParaRPr lang="en-US" sz="1250" dirty="0"/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integral/memory term — may be prone to hunting near focus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321040" y="1508760"/>
            <a:ext cx="3611880" cy="4526280"/>
          </a:xfrm>
          <a:prstGeom prst="roundRect">
            <a:avLst>
              <a:gd name="adj" fmla="val 2532"/>
            </a:avLst>
          </a:prstGeom>
          <a:solidFill>
            <a:srgbClr val="EAF6F8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595360" y="1783080"/>
            <a:ext cx="548640" cy="548640"/>
          </a:xfrm>
          <a:prstGeom prst="ellipse">
            <a:avLst/>
          </a:prstGeom>
          <a:solidFill>
            <a:srgbClr val="17C3D6"/>
          </a:solidFill>
          <a:ln/>
        </p:spPr>
      </p:sp>
      <p:pic>
        <p:nvPicPr>
          <p:cNvPr id="17" name="Image 3" descr="/home/claude/fuzzy_pptx/assets/icon_bulb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7948" y="1915668"/>
            <a:ext cx="301752" cy="30175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95360" y="2514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8595360" y="301752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rule base to all 15 E×dE combinations</a:t>
            </a:r>
            <a:endParaRPr lang="en-US" sz="1250" dirty="0"/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real stepper-motor + image-sensor hardware</a:t>
            </a:r>
            <a:endParaRPr lang="en-US" sz="1250" dirty="0"/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Auto-tune membership functions from recorded AF traces; add a 3rd input (scene contrast)</a:t>
            </a:r>
            <a:endParaRPr lang="en-US" sz="1250" dirty="0"/>
          </a:p>
        </p:txBody>
      </p:sp>
      <p:sp>
        <p:nvSpPr>
          <p:cNvPr id="20" name="Text 1"/>
          <p:cNvSpPr>
            <a:spLocks noGrp="1"/>
          </p:cNvSpPr>
          <p:nvPr>
            <p:ph type="body" idx="101" hasCustomPrompt="1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7C3D6"/>
          </a:solidFill>
          <a:ln/>
        </p:spPr>
      </p:sp>
      <p:pic>
        <p:nvPicPr>
          <p:cNvPr id="3" name="Image 0" descr="/home/claude/fuzzy_pptx/assets/icon_ca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89788"/>
            <a:ext cx="301752" cy="3017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61872" y="420624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1732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simulated a two-input, single-output Mamdani FLC for camera autofocus using Python and scikit-fuzzy.</a:t>
            </a:r>
            <a:endParaRPr lang="en-US" sz="1550" dirty="0"/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Triangular/trapezoidal membership functions and an 8-rule base map Sharpness Error and its Rate of Change to Lens Motor Step.</a:t>
            </a:r>
            <a:endParaRPr lang="en-US" sz="1550" dirty="0"/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worked example (E = 4, dE = 2) validated against the report: weighted-average O* = 36.68 motor steps.</a:t>
            </a:r>
            <a:endParaRPr lang="en-US" sz="1550" dirty="0"/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across 14 input combinations confirmed smooth, rule-consistent behaviour and revealed a rule-base coverage gap for future refinement.</a:t>
            </a:r>
            <a:endParaRPr lang="en-US" sz="1550" dirty="0"/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SzPct val="100000"/>
              <a:buChar char="▪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 outcome: fuzzy logic translates heuristic, human-like reasoning into a computationally-light, interpretable controller for non-linear, noisy real-world systems.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822960" y="571500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16204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57150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C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zzy Autofocus">
  <a:themeElements>
    <a:clrScheme name="Fuzzy Autofocus">
      <a:dk1>
        <a:srgbClr val="1E2761"/>
      </a:dk1>
      <a:lt1>
        <a:srgbClr val="FFFFFF"/>
      </a:lt1>
      <a:dk2>
        <a:srgbClr val="0F1640"/>
      </a:dk2>
      <a:lt2>
        <a:srgbClr val="EAF6F8"/>
      </a:lt2>
      <a:accent1>
        <a:srgbClr val="17C3D6"/>
      </a:accent1>
      <a:accent2>
        <a:srgbClr val="5B6EE1"/>
      </a:accent2>
      <a:accent3>
        <a:srgbClr val="0E8FA0"/>
      </a:accent3>
      <a:accent4>
        <a:srgbClr val="F2994A"/>
      </a:accent4>
      <a:accent5>
        <a:srgbClr val="8891C9"/>
      </a:accent5>
      <a:accent6>
        <a:srgbClr val="3A4A8C"/>
      </a:accent6>
      <a:hlink>
        <a:srgbClr val="17C3D6"/>
      </a:hlink>
      <a:folHlink>
        <a:srgbClr val="5B6EE1"/>
      </a:folHlink>
    </a:clrScheme>
    <a:fontScheme name="Fuzzy Autofocu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1317</Words>
  <Application>Microsoft Office PowerPoint</Application>
  <PresentationFormat>Widescreen</PresentationFormat>
  <Paragraphs>277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Fuzzy Autofocus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L.D. College of Engineering, Ahmedabad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Development of a Fuzzy Controller for Camera Autofocus</dc:title>
  <dc:subject>PptxGenJS Presentation</dc:subject>
  <dc:creator>Tharakan Rahil Ramchandran, Shivam Nandi, Arun Rathore</dc:creator>
  <cp:lastModifiedBy>Shivam Nandi</cp:lastModifiedBy>
  <cp:revision>2</cp:revision>
  <dcterms:created xsi:type="dcterms:W3CDTF">2026-10-10T10:17:39Z</dcterms:created>
  <dcterms:modified xsi:type="dcterms:W3CDTF">2026-10-10T11:06:36Z</dcterms:modified>
</cp:coreProperties>
</file>